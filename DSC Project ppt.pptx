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handoutMasterIdLst>
    <p:handoutMasterId r:id="rId18"/>
  </p:handoutMasterIdLst>
  <p:sldIdLst>
    <p:sldId id="261" r:id="rId2"/>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833"/>
  </p:normalViewPr>
  <p:slideViewPr>
    <p:cSldViewPr snapToGrid="0" snapToObjects="1">
      <p:cViewPr varScale="1">
        <p:scale>
          <a:sx n="95" d="100"/>
          <a:sy n="95" d="100"/>
        </p:scale>
        <p:origin x="163"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51" r:id="rId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t>Use 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Heritage and Culture History Of India</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err="1"/>
              <a:t>P.Laxman</a:t>
            </a:r>
            <a:r>
              <a:rPr lang="en-US" sz="9600" dirty="0"/>
              <a:t> Raj Teja</a:t>
            </a:r>
          </a:p>
          <a:p>
            <a:pPr marL="0" indent="0" algn="ctr">
              <a:buNone/>
            </a:pPr>
            <a:r>
              <a:rPr lang="en-US" sz="9600" dirty="0"/>
              <a:t>Student ID: 2520090064</a:t>
            </a:r>
            <a:endParaRPr lang="en-US" sz="2400" dirty="0"/>
          </a:p>
          <a:p>
            <a:pPr marL="0" indent="0" algn="ctr">
              <a:buNone/>
            </a:pPr>
            <a:r>
              <a:rPr lang="en-US" sz="11200" dirty="0"/>
              <a:t>Cluster:03</a:t>
            </a:r>
          </a:p>
          <a:p>
            <a:pPr marL="0" indent="0" algn="ctr">
              <a:buNone/>
            </a:pPr>
            <a:r>
              <a:rPr lang="en-US" sz="11200" dirty="0"/>
              <a:t>Section: 12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a:t>
            </a:r>
            <a:r>
              <a:rPr lang="en-US" sz="8600" dirty="0" err="1">
                <a:solidFill>
                  <a:srgbClr val="00B050"/>
                </a:solidFill>
              </a:rPr>
              <a:t>Name:Dr.Chaitanya</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648730" y="1570252"/>
            <a:ext cx="10515600" cy="4351338"/>
          </a:xfrm>
        </p:spPr>
        <p:txBody>
          <a:bodyPr>
            <a:normAutofit lnSpcReduction="10000"/>
          </a:bodyPr>
          <a:lstStyle/>
          <a:p>
            <a:r>
              <a:rPr lang="en-US" sz="2100" dirty="0"/>
              <a:t>The </a:t>
            </a:r>
            <a:r>
              <a:rPr lang="en-US" sz="2100" i="1" dirty="0"/>
              <a:t>Global </a:t>
            </a:r>
            <a:r>
              <a:rPr lang="en-US" sz="2100" i="1" dirty="0" err="1"/>
              <a:t>He</a:t>
            </a:r>
            <a:r>
              <a:rPr lang="en-US" sz="2100" dirty="0" err="1"/>
              <a:t>using</a:t>
            </a:r>
            <a:r>
              <a:rPr lang="en-US" sz="2100" dirty="0"/>
              <a:t> HTML, CSS, and JavaScript. The main objective of this project is to present news, reports, and articles related to heritage, culture, traditions, arts, and </a:t>
            </a:r>
            <a:r>
              <a:rPr lang="en-US" sz="2100" i="1" dirty="0" err="1"/>
              <a:t>ritage</a:t>
            </a:r>
            <a:r>
              <a:rPr lang="en-US" sz="2100" i="1" dirty="0"/>
              <a:t> &amp; Culture Journal</a:t>
            </a:r>
            <a:r>
              <a:rPr lang="en-US" sz="2100" dirty="0"/>
              <a:t> is a dynamic journalism website developed historical monuments in an interactive and visually engaging manner.</a:t>
            </a:r>
          </a:p>
          <a:p>
            <a:r>
              <a:rPr lang="en-US" sz="2100" dirty="0"/>
              <a:t>The website highlights important heritage sites, classical arts, folk traditions, festivals, and cultural preservation efforts. It includes advanced design elements such as animated backgrounds, scrolling news ticker, interactive like system, timeline section, and real-time date and time display. These features enhance user engagement and provide a modern digital journalism experience.</a:t>
            </a:r>
          </a:p>
          <a:p>
            <a:r>
              <a:rPr lang="en-US" sz="2100" dirty="0"/>
              <a:t>The project demonstrates the effective use of front-end web technologies to build a responsive and content-rich journalism platform. It also emphasizes the importance of preserving cultural identity and spreading awareness about heritage conservation through digital media.</a:t>
            </a:r>
          </a:p>
          <a:p>
            <a:r>
              <a:rPr lang="en-US" sz="2100" dirty="0"/>
              <a:t>Overall, this website serves as an informative and interactive platform for promoting global heritage and cultural journalism.</a:t>
            </a:r>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197709"/>
            <a:ext cx="10173182" cy="897923"/>
          </a:xfrm>
        </p:spPr>
        <p:txBody>
          <a:bodyPr/>
          <a:lstStyle/>
          <a:p>
            <a:pPr algn="ctr"/>
            <a:r>
              <a:rPr lang="en-US" b="1" dirty="0"/>
              <a:t>Existing System </a:t>
            </a:r>
          </a:p>
        </p:txBody>
      </p:sp>
      <p:sp>
        <p:nvSpPr>
          <p:cNvPr id="2" name="Content Placeholder 1">
            <a:extLst>
              <a:ext uri="{FF2B5EF4-FFF2-40B4-BE49-F238E27FC236}">
                <a16:creationId xmlns:a16="http://schemas.microsoft.com/office/drawing/2014/main" id="{37398EB5-D55A-47C8-F552-14D17C135632}"/>
              </a:ext>
            </a:extLst>
          </p:cNvPr>
          <p:cNvSpPr>
            <a:spLocks noGrp="1" noChangeArrowheads="1"/>
          </p:cNvSpPr>
          <p:nvPr>
            <p:ph idx="1"/>
          </p:nvPr>
        </p:nvSpPr>
        <p:spPr bwMode="auto">
          <a:xfrm>
            <a:off x="950440" y="1255280"/>
            <a:ext cx="10291119"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1" indent="0" eaLnBrk="0" fontAlgn="base" hangingPunct="0">
              <a:lnSpc>
                <a:spcPct val="100000"/>
              </a:lnSpc>
              <a:spcBef>
                <a:spcPct val="0"/>
              </a:spcBef>
              <a:spcAft>
                <a:spcPct val="0"/>
              </a:spcAft>
              <a:buNone/>
            </a:pPr>
            <a:endParaRPr kumimoji="0" lang="en-US" altLang="en-US" sz="6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None/>
            </a:pPr>
            <a:r>
              <a:rPr lang="en-US" altLang="en-US" sz="1200" dirty="0">
                <a:latin typeface="Arial" panose="020B0604020202020204" pitchFamily="34" charset="0"/>
              </a:rPr>
              <a:t>🖱 </a:t>
            </a:r>
            <a:r>
              <a:rPr lang="en-US" altLang="en-US" sz="1200" b="1" dirty="0">
                <a:latin typeface="Arial" panose="020B0604020202020204" pitchFamily="34" charset="0"/>
              </a:rPr>
              <a:t>Expandable Information Cards</a:t>
            </a:r>
            <a:r>
              <a:rPr lang="en-US" altLang="en-US" sz="1200" dirty="0">
                <a:latin typeface="Arial" panose="020B0604020202020204" pitchFamily="34" charset="0"/>
              </a:rPr>
              <a:t> – </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Users can click on each history topic card to expand and read detailed information about that period.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website presents major historical periods like the </a:t>
            </a:r>
            <a:r>
              <a:rPr kumimoji="0" lang="en-US" altLang="en-US" sz="1200" b="1" i="0" u="none" strike="noStrike" cap="none" normalizeH="0" baseline="0" dirty="0">
                <a:ln>
                  <a:noFill/>
                </a:ln>
                <a:solidFill>
                  <a:schemeClr val="tx1"/>
                </a:solidFill>
                <a:effectLst/>
                <a:latin typeface="Arial" panose="020B0604020202020204" pitchFamily="34" charset="0"/>
              </a:rPr>
              <a:t>Indus Valley Civilization</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Maurya Empire</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Gupta Empire</a:t>
            </a:r>
            <a:r>
              <a:rPr kumimoji="0" lang="en-US" altLang="en-US" sz="1200" b="0" i="0" u="none" strike="noStrike" cap="none" normalizeH="0" baseline="0" dirty="0">
                <a:ln>
                  <a:noFill/>
                </a:ln>
                <a:solidFill>
                  <a:schemeClr val="tx1"/>
                </a:solidFill>
                <a:effectLst/>
                <a:latin typeface="Arial" panose="020B0604020202020204" pitchFamily="34" charset="0"/>
              </a:rPr>
              <a:t>, and the </a:t>
            </a:r>
            <a:r>
              <a:rPr kumimoji="0" lang="en-US" altLang="en-US" sz="1200" b="1" i="0" u="none" strike="noStrike" cap="none" normalizeH="0" baseline="0" dirty="0">
                <a:ln>
                  <a:noFill/>
                </a:ln>
                <a:solidFill>
                  <a:schemeClr val="tx1"/>
                </a:solidFill>
                <a:effectLst/>
                <a:latin typeface="Arial" panose="020B0604020202020204" pitchFamily="34" charset="0"/>
              </a:rPr>
              <a:t>Indian Independence Movement</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Dark Mode Feature</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website allows users to switch between light mode and dark mode for better viewing experience.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Responsive Web Design</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The layout adjusts automatically for mobile, tablet, and desktop screens using CSS.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Modern User Interface</a:t>
            </a:r>
            <a:r>
              <a:rPr kumimoji="0" lang="en-US" altLang="en-US" sz="1200" b="0" i="0" u="none" strike="noStrike" cap="none" normalizeH="0" baseline="0" dirty="0">
                <a:ln>
                  <a:noFill/>
                </a:ln>
                <a:solidFill>
                  <a:schemeClr val="tx1"/>
                </a:solidFill>
                <a:effectLst/>
                <a:latin typeface="Arial" panose="020B0604020202020204" pitchFamily="34" charset="0"/>
              </a:rPr>
              <a:t> – The website uses styled cards, shadows, hover effects, and smooth transitions to create a clean and professional look.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Educational Content System</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Each section provides structured information about Indian heritage, culture, empires, and important historical developments.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JavaScript Interactivity</a:t>
            </a: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JavaScript functions are used to control card expansion, dark mode toggle, and dynamic elements like the footer year.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Simple Navigation Structure</a:t>
            </a:r>
            <a:r>
              <a:rPr kumimoji="0" lang="en-US" altLang="en-US" sz="12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 page organizes historical topics clearly so users can easily explore different parts of Indian history.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2" name="Content Placeholder 1">
            <a:extLst>
              <a:ext uri="{FF2B5EF4-FFF2-40B4-BE49-F238E27FC236}">
                <a16:creationId xmlns:a16="http://schemas.microsoft.com/office/drawing/2014/main" id="{AA0FE3E9-0613-7033-7E48-01F5FF54E91E}"/>
              </a:ext>
            </a:extLst>
          </p:cNvPr>
          <p:cNvSpPr>
            <a:spLocks noGrp="1" noChangeArrowheads="1"/>
          </p:cNvSpPr>
          <p:nvPr>
            <p:ph idx="1"/>
          </p:nvPr>
        </p:nvSpPr>
        <p:spPr bwMode="auto">
          <a:xfrm>
            <a:off x="495300" y="1417189"/>
            <a:ext cx="11305947"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Interactive History Learning Platform</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system provides an interactive website where users can explore different periods of Indian history such as the </a:t>
            </a:r>
            <a:r>
              <a:rPr kumimoji="0" lang="en-US" altLang="en-US" sz="1050" b="1" i="0" u="none" strike="noStrike" cap="none" normalizeH="0" baseline="0" dirty="0">
                <a:ln>
                  <a:noFill/>
                </a:ln>
                <a:solidFill>
                  <a:schemeClr val="tx1"/>
                </a:solidFill>
                <a:effectLst/>
                <a:latin typeface="Arial" panose="020B0604020202020204" pitchFamily="34" charset="0"/>
              </a:rPr>
              <a:t>Indus Valley Civilization</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Maurya Empire</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Gupta Empire</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and the </a:t>
            </a:r>
            <a:r>
              <a:rPr kumimoji="0" lang="en-US" altLang="en-US" sz="1050" b="1" i="0" u="none" strike="noStrike" cap="none" normalizeH="0" baseline="0" dirty="0">
                <a:ln>
                  <a:noFill/>
                </a:ln>
                <a:solidFill>
                  <a:schemeClr val="tx1"/>
                </a:solidFill>
                <a:effectLst/>
                <a:latin typeface="Arial" panose="020B0604020202020204" pitchFamily="34" charset="0"/>
              </a:rPr>
              <a:t>Indian Independence Movement</a:t>
            </a:r>
            <a:r>
              <a:rPr kumimoji="0" lang="en-US" altLang="en-US" sz="105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Expandable Content System</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Users can click on history cards to expand and read detailed information about each historical period.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Dark Mode Feature</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proposed system includes a dark mode option to improve readability and provide a modern user interface.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History Question Bot</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 chatbot feature allows users to ask questions about Indian history and receive quick responses.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Educational Content Organization</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system </a:t>
            </a:r>
            <a:r>
              <a:rPr kumimoji="0" lang="en-US" altLang="en-US" sz="1050" b="0" i="0" u="none" strike="noStrike" cap="none" normalizeH="0" baseline="0" dirty="0" err="1">
                <a:ln>
                  <a:noFill/>
                </a:ln>
                <a:solidFill>
                  <a:schemeClr val="tx1"/>
                </a:solidFill>
                <a:effectLst/>
                <a:latin typeface="Arial" panose="020B0604020202020204" pitchFamily="34" charset="0"/>
              </a:rPr>
              <a:t>organises</a:t>
            </a:r>
            <a:r>
              <a:rPr kumimoji="0" lang="en-US" altLang="en-US" sz="1050" b="0" i="0" u="none" strike="noStrike" cap="none" normalizeH="0" baseline="0" dirty="0">
                <a:ln>
                  <a:noFill/>
                </a:ln>
                <a:solidFill>
                  <a:schemeClr val="tx1"/>
                </a:solidFill>
                <a:effectLst/>
                <a:latin typeface="Arial" panose="020B0604020202020204" pitchFamily="34" charset="0"/>
              </a:rPr>
              <a:t> information about Indian culture, heritage, empires, and historical events in a structured format.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Responsive Design</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The website is designed to work on different devices such as mobile phones, tablets, and computers.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Interactive Web Features</a:t>
            </a:r>
            <a:r>
              <a:rPr kumimoji="0" lang="en-US" altLang="en-US" sz="105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JavaScript is used to provide dynamic features like card animations, content expansion, and interactive elements.</a:t>
            </a:r>
            <a:endParaRPr lang="en-US" altLang="en-US" sz="105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1" i="0" u="none" strike="noStrike" cap="none" normalizeH="0" baseline="0" dirty="0">
                <a:ln>
                  <a:noFill/>
                </a:ln>
                <a:solidFill>
                  <a:schemeClr val="tx1"/>
                </a:solidFill>
                <a:effectLst/>
                <a:latin typeface="Arial" panose="020B0604020202020204" pitchFamily="34" charset="0"/>
              </a:rPr>
              <a:t>Student Learning Support</a:t>
            </a:r>
            <a:r>
              <a:rPr kumimoji="0" lang="en-US" altLang="en-US" sz="105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a:ln>
                  <a:noFill/>
                </a:ln>
                <a:solidFill>
                  <a:schemeClr val="tx1"/>
                </a:solidFill>
                <a:effectLst/>
                <a:latin typeface="Arial" panose="020B0604020202020204" pitchFamily="34" charset="0"/>
              </a:rPr>
              <a:t>The system aims to help students easily learn and understand Indian history through an engaging and user-friendly platform.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p:txBody>
          <a:bodyPr>
            <a:normAutofit/>
          </a:bodyPr>
          <a:lstStyle/>
          <a:p>
            <a:r>
              <a:rPr lang="en-US" sz="1600" b="1" dirty="0"/>
              <a:t>User Layer</a:t>
            </a:r>
            <a:r>
              <a:rPr lang="en-US" sz="1600" dirty="0"/>
              <a:t> – The user accesses the website through a web browser and interacts with the system by clicking history cards, using dark mode, and asking questions.</a:t>
            </a:r>
          </a:p>
          <a:p>
            <a:r>
              <a:rPr lang="en-US" sz="1600" b="1" dirty="0"/>
              <a:t>Frontend Interface</a:t>
            </a:r>
            <a:r>
              <a:rPr lang="en-US" sz="1600" dirty="0"/>
              <a:t> – The website interface is developed using </a:t>
            </a:r>
            <a:r>
              <a:rPr lang="en-US" sz="1600" b="1" dirty="0"/>
              <a:t>HTML</a:t>
            </a:r>
            <a:r>
              <a:rPr lang="en-US" sz="1600" dirty="0"/>
              <a:t> to structure the historical content and sections.</a:t>
            </a:r>
          </a:p>
          <a:p>
            <a:r>
              <a:rPr lang="en-US" sz="1600" b="1" dirty="0"/>
              <a:t>Design Layer</a:t>
            </a:r>
            <a:r>
              <a:rPr lang="en-US" sz="1600" dirty="0"/>
              <a:t> – </a:t>
            </a:r>
            <a:r>
              <a:rPr lang="en-US" sz="1600" b="1" dirty="0"/>
              <a:t>CSS</a:t>
            </a:r>
            <a:r>
              <a:rPr lang="en-US" sz="1600" dirty="0"/>
              <a:t> is used to style the website with colors, card layouts, animations, and dark mode for better user experience.</a:t>
            </a:r>
          </a:p>
          <a:p>
            <a:r>
              <a:rPr lang="en-US" sz="1600" b="1" dirty="0"/>
              <a:t>Interaction Layer</a:t>
            </a:r>
            <a:r>
              <a:rPr lang="en-US" sz="1600" dirty="0"/>
              <a:t> – </a:t>
            </a:r>
            <a:r>
              <a:rPr lang="en-US" sz="1600" b="1" dirty="0"/>
              <a:t>JavaScript</a:t>
            </a:r>
            <a:r>
              <a:rPr lang="en-US" sz="1600" dirty="0"/>
              <a:t> manages interactive features such as card expansion, dark mode toggle, and chatbot responses.</a:t>
            </a:r>
          </a:p>
          <a:p>
            <a:r>
              <a:rPr lang="en-US" sz="1600" b="1" dirty="0"/>
              <a:t>Content Module</a:t>
            </a:r>
            <a:r>
              <a:rPr lang="en-US" sz="1600" dirty="0"/>
              <a:t> – The system displays educational information about topics like the </a:t>
            </a:r>
            <a:r>
              <a:rPr lang="en-US" sz="1600" b="1" dirty="0"/>
              <a:t>Indus Valley Civilization</a:t>
            </a:r>
            <a:r>
              <a:rPr lang="en-US" sz="1600" dirty="0"/>
              <a:t>, </a:t>
            </a:r>
            <a:r>
              <a:rPr lang="en-US" sz="1600" b="1" dirty="0"/>
              <a:t>Maurya Empire</a:t>
            </a:r>
            <a:r>
              <a:rPr lang="en-US" sz="1600" dirty="0"/>
              <a:t>, </a:t>
            </a:r>
            <a:r>
              <a:rPr lang="en-US" sz="1600" b="1" dirty="0"/>
              <a:t>Gupta Empire</a:t>
            </a:r>
            <a:r>
              <a:rPr lang="en-US" sz="1600" dirty="0"/>
              <a:t>, and the </a:t>
            </a:r>
            <a:r>
              <a:rPr lang="en-US" sz="1600" b="1" dirty="0"/>
              <a:t>Indian Independence Movement</a:t>
            </a:r>
            <a:r>
              <a:rPr lang="en-US" sz="1600" dirty="0"/>
              <a:t>.</a:t>
            </a:r>
          </a:p>
          <a:p>
            <a:r>
              <a:rPr lang="en-US" sz="1600" b="1" dirty="0"/>
              <a:t>Expandable Card System</a:t>
            </a:r>
            <a:r>
              <a:rPr lang="en-US" sz="1600" dirty="0"/>
              <a:t> – Each history section is presented in interactive cards that expand when clicked to reveal detailed information.</a:t>
            </a:r>
          </a:p>
          <a:p>
            <a:r>
              <a:rPr lang="en-US" sz="1600" b="1" dirty="0"/>
              <a:t>Chatbot Module</a:t>
            </a:r>
            <a:r>
              <a:rPr lang="en-US" sz="1600" dirty="0"/>
              <a:t> – A simple history chatbot allows users to ask questions and receive predefined answers about Indian history.</a:t>
            </a:r>
          </a:p>
          <a:p>
            <a:r>
              <a:rPr lang="en-US" sz="1600" b="1" dirty="0"/>
              <a:t>Output Layer</a:t>
            </a:r>
            <a:r>
              <a:rPr lang="en-US" sz="1600" dirty="0"/>
              <a:t> – The system displays the requested information and responses on the webpage, allowing users to learn about history in an interactive way.</a:t>
            </a:r>
          </a:p>
          <a:p>
            <a:endParaRPr lang="en-US" dirty="0"/>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2" name="Content Placeholder 1">
            <a:extLst>
              <a:ext uri="{FF2B5EF4-FFF2-40B4-BE49-F238E27FC236}">
                <a16:creationId xmlns:a16="http://schemas.microsoft.com/office/drawing/2014/main" id="{A7880899-D1A8-A2E4-EC39-B6F88A91D061}"/>
              </a:ext>
            </a:extLst>
          </p:cNvPr>
          <p:cNvSpPr>
            <a:spLocks noGrp="1" noChangeArrowheads="1"/>
          </p:cNvSpPr>
          <p:nvPr>
            <p:ph idx="1"/>
          </p:nvPr>
        </p:nvSpPr>
        <p:spPr bwMode="auto">
          <a:xfrm>
            <a:off x="838200" y="1290295"/>
            <a:ext cx="7231980" cy="5421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200" b="1" dirty="0"/>
              <a:t>User Interface Module</a:t>
            </a:r>
            <a:br>
              <a:rPr lang="en-US" sz="1200" dirty="0"/>
            </a:br>
            <a:r>
              <a:rPr lang="en-US" sz="1200" dirty="0"/>
              <a:t>Provides an interactive interface for users to explore Indian history topics.</a:t>
            </a:r>
            <a:br>
              <a:rPr lang="en-US" sz="1200" dirty="0"/>
            </a:br>
            <a:r>
              <a:rPr lang="en-US" sz="1200" dirty="0"/>
              <a:t>Allows easy navigation between sections like ancient history, empires, culture, and independence movement.</a:t>
            </a:r>
          </a:p>
          <a:p>
            <a:r>
              <a:rPr lang="en-US" sz="1200" b="1" dirty="0"/>
              <a:t>Login &amp; Authentication Module</a:t>
            </a:r>
            <a:br>
              <a:rPr lang="en-US" sz="1200" dirty="0"/>
            </a:br>
            <a:r>
              <a:rPr lang="en-US" sz="1200" dirty="0"/>
              <a:t>Allows users to log in to access the website features.</a:t>
            </a:r>
            <a:br>
              <a:rPr lang="en-US" sz="1200" dirty="0"/>
            </a:br>
            <a:r>
              <a:rPr lang="en-US" sz="1200" dirty="0"/>
              <a:t>Ensures basic user authentication before entering the main history portal.</a:t>
            </a:r>
          </a:p>
          <a:p>
            <a:r>
              <a:rPr lang="en-US" sz="1200" b="1" dirty="0"/>
              <a:t>Ancient History Module</a:t>
            </a:r>
            <a:br>
              <a:rPr lang="en-US" sz="1200" dirty="0"/>
            </a:br>
            <a:r>
              <a:rPr lang="en-US" sz="1200" dirty="0"/>
              <a:t>Provides information about early Indian civilizations such as the </a:t>
            </a:r>
            <a:r>
              <a:rPr lang="en-US" sz="1200" b="1" dirty="0"/>
              <a:t>Indus Valley Civilization</a:t>
            </a:r>
            <a:r>
              <a:rPr lang="en-US" sz="1200" dirty="0"/>
              <a:t>.</a:t>
            </a:r>
            <a:br>
              <a:rPr lang="en-US" sz="1200" dirty="0"/>
            </a:br>
            <a:r>
              <a:rPr lang="en-US" sz="1200" dirty="0"/>
              <a:t>Displays images and descriptions of ancient culture, cities, and lifestyle.</a:t>
            </a:r>
          </a:p>
          <a:p>
            <a:r>
              <a:rPr lang="en-US" sz="1200" b="1" dirty="0"/>
              <a:t>Indian Empires Module</a:t>
            </a:r>
            <a:br>
              <a:rPr lang="en-US" sz="1200" dirty="0"/>
            </a:br>
            <a:r>
              <a:rPr lang="en-US" sz="1200" dirty="0"/>
              <a:t>Shows details about powerful Indian empires like the </a:t>
            </a:r>
            <a:r>
              <a:rPr lang="en-US" sz="1200" b="1" dirty="0"/>
              <a:t>Maurya Empire</a:t>
            </a:r>
            <a:r>
              <a:rPr lang="en-US" sz="1200" dirty="0"/>
              <a:t> and the </a:t>
            </a:r>
            <a:r>
              <a:rPr lang="en-US" sz="1200" b="1" dirty="0"/>
              <a:t>Gupta Empire</a:t>
            </a:r>
            <a:r>
              <a:rPr lang="en-US" sz="1200" dirty="0"/>
              <a:t>.</a:t>
            </a:r>
            <a:br>
              <a:rPr lang="en-US" sz="1200" dirty="0"/>
            </a:br>
            <a:r>
              <a:rPr lang="en-US" sz="1200" dirty="0"/>
              <a:t>Explains their rulers, achievements, and historical importance.</a:t>
            </a:r>
          </a:p>
          <a:p>
            <a:r>
              <a:rPr lang="en-US" sz="1200" b="1" dirty="0"/>
              <a:t>Culture &amp; Heritage Module</a:t>
            </a:r>
            <a:br>
              <a:rPr lang="en-US" sz="1200" dirty="0"/>
            </a:br>
            <a:r>
              <a:rPr lang="en-US" sz="1200" dirty="0"/>
              <a:t>Displays information about Indian traditions, arts, and cultural heritage.</a:t>
            </a:r>
            <a:br>
              <a:rPr lang="en-US" sz="1200" dirty="0"/>
            </a:br>
            <a:r>
              <a:rPr lang="en-US" sz="1200" dirty="0"/>
              <a:t>Includes details about classical dance, architecture, and historical monuments.</a:t>
            </a:r>
          </a:p>
          <a:p>
            <a:r>
              <a:rPr lang="en-US" sz="1200" b="1" dirty="0"/>
              <a:t>Independence Movement Module</a:t>
            </a:r>
            <a:br>
              <a:rPr lang="en-US" sz="1200" dirty="0"/>
            </a:br>
            <a:r>
              <a:rPr lang="en-US" sz="1200" dirty="0"/>
              <a:t>Explains the events and leaders involved in the </a:t>
            </a:r>
            <a:r>
              <a:rPr lang="en-US" sz="1200" b="1" dirty="0"/>
              <a:t>Indian Independence Movement</a:t>
            </a:r>
            <a:r>
              <a:rPr lang="en-US" sz="1200" dirty="0"/>
              <a:t>.</a:t>
            </a:r>
            <a:br>
              <a:rPr lang="en-US" sz="1200" dirty="0"/>
            </a:br>
            <a:r>
              <a:rPr lang="en-US" sz="1200" dirty="0"/>
              <a:t>Provides historical images and important milestones of the freedom struggle.</a:t>
            </a:r>
          </a:p>
          <a:p>
            <a:r>
              <a:rPr lang="en-US" sz="1200" b="1" dirty="0"/>
              <a:t>Interactive Features Module</a:t>
            </a:r>
            <a:br>
              <a:rPr lang="en-US" sz="1200" dirty="0"/>
            </a:br>
            <a:r>
              <a:rPr lang="en-US" sz="1200" dirty="0"/>
              <a:t>Includes animations, image sliders, and clickable cards for better user engagement.</a:t>
            </a:r>
            <a:br>
              <a:rPr lang="en-US" sz="1200" dirty="0"/>
            </a:br>
            <a:r>
              <a:rPr lang="en-US" sz="1200" dirty="0"/>
              <a:t>Provides features like dark mode and animated timeline for exploring history.</a:t>
            </a:r>
          </a:p>
          <a:p>
            <a:r>
              <a:rPr lang="en-US" sz="1200" b="1" dirty="0"/>
              <a:t>AI Chatbot Module</a:t>
            </a:r>
            <a:br>
              <a:rPr lang="en-US" sz="1800" dirty="0"/>
            </a:br>
            <a:r>
              <a:rPr lang="en-US" sz="1200" dirty="0"/>
              <a:t>Allows users to ask questions about Indian history.</a:t>
            </a:r>
            <a:br>
              <a:rPr lang="en-US" sz="1200" dirty="0"/>
            </a:br>
            <a:r>
              <a:rPr lang="en-US" sz="1200" dirty="0"/>
              <a:t>Provides automated answers to help users learn historical facts easily.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655320" y="1612265"/>
            <a:ext cx="10515600" cy="4351338"/>
          </a:xfrm>
        </p:spPr>
        <p:txBody>
          <a:bodyPr>
            <a:normAutofit fontScale="62500" lnSpcReduction="20000"/>
          </a:bodyPr>
          <a:lstStyle/>
          <a:p>
            <a:r>
              <a:rPr lang="en-US" dirty="0"/>
              <a:t>Here are </a:t>
            </a:r>
            <a:r>
              <a:rPr lang="en-US" b="1" dirty="0"/>
              <a:t>8 Objectives</a:t>
            </a:r>
            <a:r>
              <a:rPr lang="en-US" dirty="0"/>
              <a:t> for your </a:t>
            </a:r>
            <a:r>
              <a:rPr lang="en-US" b="1" dirty="0"/>
              <a:t>Interactive Indian History Website Project</a:t>
            </a:r>
            <a:r>
              <a:rPr lang="en-US" dirty="0"/>
              <a:t>:</a:t>
            </a:r>
          </a:p>
          <a:p>
            <a:r>
              <a:rPr lang="en-US" b="1" dirty="0"/>
              <a:t>To develop an interactive educational website</a:t>
            </a:r>
            <a:r>
              <a:rPr lang="en-US" dirty="0"/>
              <a:t> that helps users learn about Indian history in an easy and engaging way.</a:t>
            </a:r>
          </a:p>
          <a:p>
            <a:r>
              <a:rPr lang="en-US" b="1" dirty="0"/>
              <a:t>To provide structured information about ancient civilizations</a:t>
            </a:r>
            <a:r>
              <a:rPr lang="en-US" dirty="0"/>
              <a:t> such as the </a:t>
            </a:r>
            <a:r>
              <a:rPr lang="en-US" b="1" dirty="0"/>
              <a:t>Indus Valley Civilization</a:t>
            </a:r>
            <a:r>
              <a:rPr lang="en-US" dirty="0"/>
              <a:t>.</a:t>
            </a:r>
          </a:p>
          <a:p>
            <a:r>
              <a:rPr lang="en-US" b="1" dirty="0"/>
              <a:t>To explain the rise and achievements of major Indian empires</a:t>
            </a:r>
            <a:r>
              <a:rPr lang="en-US" dirty="0"/>
              <a:t> like the </a:t>
            </a:r>
            <a:r>
              <a:rPr lang="en-US" b="1" dirty="0"/>
              <a:t>Maurya Empire</a:t>
            </a:r>
            <a:r>
              <a:rPr lang="en-US" dirty="0"/>
              <a:t> and the </a:t>
            </a:r>
            <a:r>
              <a:rPr lang="en-US" b="1" dirty="0"/>
              <a:t>Gupta Empire</a:t>
            </a:r>
            <a:r>
              <a:rPr lang="en-US" dirty="0"/>
              <a:t>.</a:t>
            </a:r>
          </a:p>
          <a:p>
            <a:r>
              <a:rPr lang="en-US" b="1" dirty="0"/>
              <a:t>To increase awareness of Indian culture and heritage</a:t>
            </a:r>
            <a:r>
              <a:rPr lang="en-US" dirty="0"/>
              <a:t>, including traditions, arts, and festivals.</a:t>
            </a:r>
          </a:p>
          <a:p>
            <a:r>
              <a:rPr lang="en-US" b="1" dirty="0"/>
              <a:t>To present information about the Indian freedom struggle</a:t>
            </a:r>
            <a:r>
              <a:rPr lang="en-US" dirty="0"/>
              <a:t>, especially the </a:t>
            </a:r>
            <a:r>
              <a:rPr lang="en-US" b="1" dirty="0"/>
              <a:t>Indian Independence Movement</a:t>
            </a:r>
            <a:r>
              <a:rPr lang="en-US" dirty="0"/>
              <a:t>.</a:t>
            </a:r>
          </a:p>
          <a:p>
            <a:r>
              <a:rPr lang="en-US" b="1" dirty="0"/>
              <a:t>To make learning history more interactive</a:t>
            </a:r>
            <a:r>
              <a:rPr lang="en-US" dirty="0"/>
              <a:t> using features like expandable cards and dynamic content.</a:t>
            </a:r>
          </a:p>
          <a:p>
            <a:r>
              <a:rPr lang="en-US" b="1" dirty="0"/>
              <a:t>To improve user experience</a:t>
            </a:r>
            <a:r>
              <a:rPr lang="en-US" dirty="0"/>
              <a:t> through modern web features such as dark mode and responsive design.</a:t>
            </a:r>
          </a:p>
          <a:p>
            <a:r>
              <a:rPr lang="en-US" b="1" dirty="0"/>
              <a:t>To create a simple question-answer system</a:t>
            </a:r>
            <a:r>
              <a:rPr lang="en-US" dirty="0"/>
              <a:t> where users can ask questions about Indian history using a chatbot.</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747584" y="1493134"/>
            <a:ext cx="10515600" cy="4351338"/>
          </a:xfrm>
        </p:spPr>
        <p:txBody>
          <a:bodyPr>
            <a:normAutofit fontScale="25000" lnSpcReduction="20000"/>
          </a:bodyPr>
          <a:lstStyle/>
          <a:p>
            <a:r>
              <a:rPr lang="en-IN" sz="4000" b="1" dirty="0"/>
              <a:t>CO1</a:t>
            </a:r>
            <a:endParaRPr lang="en-IN" sz="4000" dirty="0"/>
          </a:p>
          <a:p>
            <a:r>
              <a:rPr lang="en-IN" sz="4000" dirty="0"/>
              <a:t>Understand Internet fundamentals, HTTP/HTTPS protocols, and web client-server architecture.</a:t>
            </a:r>
          </a:p>
          <a:p>
            <a:r>
              <a:rPr lang="en-IN" sz="4000" dirty="0"/>
              <a:t>Explain browser functionality, developer tools, web hosting, and domain concepts.</a:t>
            </a:r>
          </a:p>
          <a:p>
            <a:r>
              <a:rPr lang="en-IN" sz="4000" dirty="0"/>
              <a:t>Apply HTML document structure and basic webpage elements such as lists, links, and images.</a:t>
            </a:r>
          </a:p>
          <a:p>
            <a:r>
              <a:rPr lang="en-IN" sz="4000" b="1" dirty="0"/>
              <a:t>CO2</a:t>
            </a:r>
            <a:endParaRPr lang="en-IN" sz="4000" dirty="0"/>
          </a:p>
          <a:p>
            <a:r>
              <a:rPr lang="en-IN" sz="4000" dirty="0"/>
              <a:t>Design structured web pages using HTML forms, semantic tags, tables, and media elements.</a:t>
            </a:r>
          </a:p>
          <a:p>
            <a:r>
              <a:rPr lang="en-IN" sz="4000" dirty="0"/>
              <a:t>Apply CSS styling techniques including selectors, typography, </a:t>
            </a:r>
            <a:r>
              <a:rPr lang="en-IN" sz="4000" dirty="0" err="1"/>
              <a:t>colors</a:t>
            </a:r>
            <a:r>
              <a:rPr lang="en-IN" sz="4000" dirty="0"/>
              <a:t>, and spacing.</a:t>
            </a:r>
          </a:p>
          <a:p>
            <a:r>
              <a:rPr lang="en-IN" sz="4000" dirty="0"/>
              <a:t>Implement modern layout techniques using Flexbox, CSS Grid, and responsive design.</a:t>
            </a:r>
          </a:p>
          <a:p>
            <a:r>
              <a:rPr lang="en-IN" sz="4000" b="1" dirty="0"/>
              <a:t>CO3</a:t>
            </a:r>
            <a:endParaRPr lang="en-IN" sz="4000" dirty="0"/>
          </a:p>
          <a:p>
            <a:r>
              <a:rPr lang="en-IN" sz="4000" dirty="0"/>
              <a:t>Apply JavaScript fundamentals including variables, operators, conditions, loops, and functions.</a:t>
            </a:r>
          </a:p>
          <a:p>
            <a:r>
              <a:rPr lang="en-IN" sz="4000" dirty="0"/>
              <a:t>Work with arrays, objects, and ES6 features for efficient programming.</a:t>
            </a:r>
          </a:p>
          <a:p>
            <a:r>
              <a:rPr lang="en-IN" sz="4000" dirty="0"/>
              <a:t>Implement functional programming concepts such as arrow functions and callbacks.</a:t>
            </a:r>
          </a:p>
          <a:p>
            <a:r>
              <a:rPr lang="en-IN" sz="4000" b="1" dirty="0"/>
              <a:t>CO4</a:t>
            </a:r>
            <a:endParaRPr lang="en-IN" sz="4000" dirty="0"/>
          </a:p>
          <a:p>
            <a:r>
              <a:rPr lang="en-IN" sz="4000" dirty="0"/>
              <a:t>Perform DOM manipulation and event handling to create dynamic web pages.</a:t>
            </a:r>
          </a:p>
          <a:p>
            <a:r>
              <a:rPr lang="en-IN" sz="4000" dirty="0"/>
              <a:t>Use browser storage such as </a:t>
            </a:r>
            <a:r>
              <a:rPr lang="en-IN" sz="4000" dirty="0" err="1"/>
              <a:t>localStorage</a:t>
            </a:r>
            <a:r>
              <a:rPr lang="en-IN" sz="4000" dirty="0"/>
              <a:t> and </a:t>
            </a:r>
            <a:r>
              <a:rPr lang="en-IN" sz="4000" dirty="0" err="1"/>
              <a:t>sessionStorage</a:t>
            </a:r>
            <a:r>
              <a:rPr lang="en-IN" sz="4000" dirty="0"/>
              <a:t> for client-side data.</a:t>
            </a:r>
          </a:p>
          <a:p>
            <a:r>
              <a:rPr lang="en-IN" sz="4000" dirty="0"/>
              <a:t>Implement asynchronous programming using Promises, fetch(), async, and await.</a:t>
            </a:r>
          </a:p>
          <a:p>
            <a:r>
              <a:rPr lang="en-IN" sz="4000" b="1" dirty="0"/>
              <a:t>CO5</a:t>
            </a:r>
            <a:endParaRPr lang="en-IN" sz="4000" dirty="0"/>
          </a:p>
          <a:p>
            <a:r>
              <a:rPr lang="en-IN" sz="4000" dirty="0"/>
              <a:t>Implement form validation and API integration using JavaScript.</a:t>
            </a:r>
          </a:p>
          <a:p>
            <a:r>
              <a:rPr lang="en-IN" sz="4000" dirty="0"/>
              <a:t>Apply performance optimization techniques and SEO practices for web applications.</a:t>
            </a:r>
          </a:p>
          <a:p>
            <a:r>
              <a:rPr lang="en-IN" sz="4000" dirty="0"/>
              <a:t>Deploy responsive and interactive web applications with improved usability.</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25000" lnSpcReduction="20000"/>
          </a:bodyPr>
          <a:lstStyle/>
          <a:p>
            <a:r>
              <a:rPr lang="en-US" sz="3200" b="1" dirty="0"/>
              <a:t>CO1</a:t>
            </a:r>
            <a:endParaRPr lang="en-US" sz="3200" dirty="0"/>
          </a:p>
          <a:p>
            <a:r>
              <a:rPr lang="en-US" sz="3200" dirty="0"/>
              <a:t>Analyze problem statements using asymptotic notation (Big-O, Ω, Θ).</a:t>
            </a:r>
          </a:p>
          <a:p>
            <a:r>
              <a:rPr lang="en-US" sz="3200" dirty="0"/>
              <a:t>Compare algorithm efficiency based on time and space complexity.</a:t>
            </a:r>
          </a:p>
          <a:p>
            <a:r>
              <a:rPr lang="en-US" sz="3200" dirty="0"/>
              <a:t>Implement and evaluate searching and sorting algorithms in Java.</a:t>
            </a:r>
          </a:p>
          <a:p>
            <a:r>
              <a:rPr lang="en-US" sz="3200" b="1" dirty="0"/>
              <a:t>CO2</a:t>
            </a:r>
          </a:p>
          <a:p>
            <a:r>
              <a:rPr lang="en-US" sz="3200" dirty="0"/>
              <a:t>Design and implement Abstract Data Types (ADTs) using arrays and linked lists.</a:t>
            </a:r>
          </a:p>
          <a:p>
            <a:r>
              <a:rPr lang="en-US" sz="3200" dirty="0"/>
              <a:t>Perform operations such as insertion, deletion, searching, and traversal.</a:t>
            </a:r>
          </a:p>
          <a:p>
            <a:r>
              <a:rPr lang="en-US" sz="3200" dirty="0"/>
              <a:t>Evaluate advantages and limitations of different data structures.</a:t>
            </a:r>
          </a:p>
          <a:p>
            <a:r>
              <a:rPr lang="en-US" sz="3200" b="1" dirty="0"/>
              <a:t>CO3</a:t>
            </a:r>
          </a:p>
          <a:p>
            <a:r>
              <a:rPr lang="en-US" sz="3200" dirty="0"/>
              <a:t>Apply stacks and queues to solve real-world workflow problems.</a:t>
            </a:r>
          </a:p>
          <a:p>
            <a:r>
              <a:rPr lang="en-US" sz="3200" dirty="0"/>
              <a:t>Implement circular queues, deques, heaps, and priority queues.</a:t>
            </a:r>
          </a:p>
          <a:p>
            <a:r>
              <a:rPr lang="en-US" sz="3200" dirty="0"/>
              <a:t>Analyze performance compared to other linear data structures.</a:t>
            </a:r>
          </a:p>
          <a:p>
            <a:r>
              <a:rPr lang="en-US" sz="3200" b="1" dirty="0"/>
              <a:t>CO4</a:t>
            </a:r>
          </a:p>
          <a:p>
            <a:r>
              <a:rPr lang="en-US" sz="3200" dirty="0"/>
              <a:t>Design hash-based data structures using hashing techniques.</a:t>
            </a:r>
          </a:p>
          <a:p>
            <a:r>
              <a:rPr lang="en-US" sz="3200" dirty="0"/>
              <a:t>Implement hash tables with chaining and open addressing.</a:t>
            </a:r>
          </a:p>
          <a:p>
            <a:r>
              <a:rPr lang="en-US" sz="3200" dirty="0"/>
              <a:t>Utilize Java Collections (List, Queue, Deque, Map) for efficient solutions.</a:t>
            </a:r>
          </a:p>
          <a:p>
            <a:r>
              <a:rPr lang="en-US" sz="3200" b="1" dirty="0"/>
              <a:t>CO5</a:t>
            </a:r>
          </a:p>
          <a:p>
            <a:r>
              <a:rPr lang="en-US" sz="3200" dirty="0"/>
              <a:t>Develop practical applications using linear data structures.</a:t>
            </a:r>
          </a:p>
          <a:p>
            <a:r>
              <a:rPr lang="en-US" sz="3200" dirty="0"/>
              <a:t>Implement data structures to solve real-world computational problems.</a:t>
            </a:r>
          </a:p>
          <a:p>
            <a:pPr marL="457200" lvl="1" indent="0">
              <a:buNone/>
            </a:pPr>
            <a:endParaRPr lang="en-IN"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838200" y="-313037"/>
            <a:ext cx="10515600" cy="2413686"/>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1" name="Content Placeholder 10">
            <a:extLst>
              <a:ext uri="{FF2B5EF4-FFF2-40B4-BE49-F238E27FC236}">
                <a16:creationId xmlns:a16="http://schemas.microsoft.com/office/drawing/2014/main" id="{25FF0372-DEFC-72FD-A287-90BD09761D41}"/>
              </a:ext>
            </a:extLst>
          </p:cNvPr>
          <p:cNvPicPr>
            <a:picLocks noGrp="1" noChangeAspect="1"/>
          </p:cNvPicPr>
          <p:nvPr>
            <p:ph idx="1"/>
          </p:nvPr>
        </p:nvPicPr>
        <p:blipFill>
          <a:blip r:embed="rId2"/>
          <a:stretch>
            <a:fillRect/>
          </a:stretch>
        </p:blipFill>
        <p:spPr>
          <a:xfrm>
            <a:off x="450943" y="1253331"/>
            <a:ext cx="4920029" cy="2877511"/>
          </a:xfrm>
          <a:prstGeom prst="rect">
            <a:avLst/>
          </a:prstGeom>
        </p:spPr>
      </p:pic>
      <p:pic>
        <p:nvPicPr>
          <p:cNvPr id="13" name="Picture 12">
            <a:extLst>
              <a:ext uri="{FF2B5EF4-FFF2-40B4-BE49-F238E27FC236}">
                <a16:creationId xmlns:a16="http://schemas.microsoft.com/office/drawing/2014/main" id="{91FACE5D-E391-AB09-4BCE-D678B92E9F20}"/>
              </a:ext>
            </a:extLst>
          </p:cNvPr>
          <p:cNvPicPr>
            <a:picLocks noChangeAspect="1"/>
          </p:cNvPicPr>
          <p:nvPr/>
        </p:nvPicPr>
        <p:blipFill>
          <a:blip r:embed="rId3"/>
          <a:stretch>
            <a:fillRect/>
          </a:stretch>
        </p:blipFill>
        <p:spPr>
          <a:xfrm>
            <a:off x="6096000" y="1172478"/>
            <a:ext cx="4017876" cy="3056021"/>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10" name="Content Placeholder 9">
            <a:extLst>
              <a:ext uri="{FF2B5EF4-FFF2-40B4-BE49-F238E27FC236}">
                <a16:creationId xmlns:a16="http://schemas.microsoft.com/office/drawing/2014/main" id="{B5D2E93A-9436-7455-D5FB-37DB98C807E0}"/>
              </a:ext>
            </a:extLst>
          </p:cNvPr>
          <p:cNvSpPr>
            <a:spLocks noGrp="1"/>
          </p:cNvSpPr>
          <p:nvPr>
            <p:ph idx="1"/>
          </p:nvPr>
        </p:nvSpPr>
        <p:spPr/>
        <p:txBody>
          <a:bodyPr>
            <a:normAutofit fontScale="92500" lnSpcReduction="20000"/>
          </a:bodyPr>
          <a:lstStyle/>
          <a:p>
            <a:r>
              <a:rPr lang="en-US" dirty="0"/>
              <a:t>This </a:t>
            </a:r>
            <a:r>
              <a:rPr lang="en-US" sz="2600" dirty="0"/>
              <a:t>project</a:t>
            </a:r>
            <a:r>
              <a:rPr lang="en-US" dirty="0"/>
              <a:t> demonstrates how </a:t>
            </a:r>
            <a:r>
              <a:rPr lang="en-US" b="1" dirty="0"/>
              <a:t>Data Structures and Algorithms (DSA)</a:t>
            </a:r>
            <a:r>
              <a:rPr lang="en-US" dirty="0"/>
              <a:t> can be applied to manage and organize information related to Indian heritage monuments. By using concepts such as </a:t>
            </a:r>
            <a:r>
              <a:rPr lang="en-US" b="1" dirty="0"/>
              <a:t>searching, sorting, stack, queue, hashing, and priority queue</a:t>
            </a:r>
            <a:r>
              <a:rPr lang="en-US" dirty="0"/>
              <a:t>, the program efficiently stores and processes monument data.</a:t>
            </a:r>
          </a:p>
          <a:p>
            <a:r>
              <a:rPr lang="en-US" dirty="0"/>
              <a:t>Famous monuments like the Taj Mahal, Qutub Minar, </a:t>
            </a:r>
            <a:r>
              <a:rPr lang="en-US" dirty="0" err="1"/>
              <a:t>Hampi</a:t>
            </a:r>
            <a:r>
              <a:rPr lang="en-US" dirty="0"/>
              <a:t>, Red Fort, and Ajanta Caves were used as examples to represent India’s rich cultural heritage.</a:t>
            </a:r>
          </a:p>
          <a:p>
            <a:r>
              <a:rPr lang="en-US" dirty="0"/>
              <a:t>The project helps in understanding how </a:t>
            </a:r>
            <a:r>
              <a:rPr lang="en-US" b="1" dirty="0"/>
              <a:t>computer science techniques can be used in real-world applications</a:t>
            </a:r>
            <a:r>
              <a:rPr lang="en-US" dirty="0"/>
              <a:t>, such as heritage information systems and tourism management. It also improves programming knowledge and demonstrates the practical use of </a:t>
            </a:r>
            <a:r>
              <a:rPr lang="en-US" b="1" dirty="0"/>
              <a:t>Java and DSA concepts</a:t>
            </a:r>
            <a:r>
              <a:rPr lang="en-US" dirty="0"/>
              <a:t> in an interactive way.</a:t>
            </a:r>
          </a:p>
          <a:p>
            <a:endParaRPr lang="en-IN" dirty="0"/>
          </a:p>
        </p:txBody>
      </p:sp>
    </p:spTree>
    <p:extLst>
      <p:ext uri="{BB962C8B-B14F-4D97-AF65-F5344CB8AC3E}">
        <p14:creationId xmlns:p14="http://schemas.microsoft.com/office/powerpoint/2010/main" val="2858912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pic>
        <p:nvPicPr>
          <p:cNvPr id="8" name="Content Placeholder 7">
            <a:extLst>
              <a:ext uri="{FF2B5EF4-FFF2-40B4-BE49-F238E27FC236}">
                <a16:creationId xmlns:a16="http://schemas.microsoft.com/office/drawing/2014/main" id="{5492B68E-9AD9-C69F-C919-145598A5DC23}"/>
              </a:ext>
            </a:extLst>
          </p:cNvPr>
          <p:cNvPicPr>
            <a:picLocks noGrp="1" noChangeAspect="1"/>
          </p:cNvPicPr>
          <p:nvPr>
            <p:ph idx="1"/>
          </p:nvPr>
        </p:nvPicPr>
        <p:blipFill>
          <a:blip r:embed="rId2"/>
          <a:stretch>
            <a:fillRect/>
          </a:stretch>
        </p:blipFill>
        <p:spPr>
          <a:xfrm>
            <a:off x="1060622" y="1329381"/>
            <a:ext cx="3305432" cy="2587417"/>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0" name="Picture 9">
            <a:extLst>
              <a:ext uri="{FF2B5EF4-FFF2-40B4-BE49-F238E27FC236}">
                <a16:creationId xmlns:a16="http://schemas.microsoft.com/office/drawing/2014/main" id="{73E5E68A-F3B6-C362-9CFA-6489F2A3ACC5}"/>
              </a:ext>
            </a:extLst>
          </p:cNvPr>
          <p:cNvPicPr>
            <a:picLocks noChangeAspect="1"/>
          </p:cNvPicPr>
          <p:nvPr/>
        </p:nvPicPr>
        <p:blipFill>
          <a:blip r:embed="rId3"/>
          <a:stretch>
            <a:fillRect/>
          </a:stretch>
        </p:blipFill>
        <p:spPr>
          <a:xfrm>
            <a:off x="6397483" y="3962359"/>
            <a:ext cx="3584717" cy="2688538"/>
          </a:xfrm>
          <a:prstGeom prst="rect">
            <a:avLst/>
          </a:prstGeom>
        </p:spPr>
      </p:pic>
      <p:pic>
        <p:nvPicPr>
          <p:cNvPr id="12" name="Picture 11">
            <a:extLst>
              <a:ext uri="{FF2B5EF4-FFF2-40B4-BE49-F238E27FC236}">
                <a16:creationId xmlns:a16="http://schemas.microsoft.com/office/drawing/2014/main" id="{74E62608-9481-FDC3-ABC3-0439A42F149E}"/>
              </a:ext>
            </a:extLst>
          </p:cNvPr>
          <p:cNvPicPr>
            <a:picLocks noChangeAspect="1"/>
          </p:cNvPicPr>
          <p:nvPr/>
        </p:nvPicPr>
        <p:blipFill>
          <a:blip r:embed="rId4"/>
          <a:stretch>
            <a:fillRect/>
          </a:stretch>
        </p:blipFill>
        <p:spPr>
          <a:xfrm>
            <a:off x="838200" y="4039633"/>
            <a:ext cx="3667818" cy="2533991"/>
          </a:xfrm>
          <a:prstGeom prst="rect">
            <a:avLst/>
          </a:prstGeom>
        </p:spPr>
      </p:pic>
      <p:pic>
        <p:nvPicPr>
          <p:cNvPr id="14" name="Picture 13">
            <a:extLst>
              <a:ext uri="{FF2B5EF4-FFF2-40B4-BE49-F238E27FC236}">
                <a16:creationId xmlns:a16="http://schemas.microsoft.com/office/drawing/2014/main" id="{A49AD2EB-6CE6-BB8E-3577-32814FAE2F2D}"/>
              </a:ext>
            </a:extLst>
          </p:cNvPr>
          <p:cNvPicPr>
            <a:picLocks noChangeAspect="1"/>
          </p:cNvPicPr>
          <p:nvPr/>
        </p:nvPicPr>
        <p:blipFill>
          <a:blip r:embed="rId5"/>
          <a:stretch>
            <a:fillRect/>
          </a:stretch>
        </p:blipFill>
        <p:spPr>
          <a:xfrm>
            <a:off x="6311213" y="1293429"/>
            <a:ext cx="3305432" cy="2479074"/>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5070</TotalTime>
  <Words>1931</Words>
  <Application>Microsoft Office PowerPoint</Application>
  <PresentationFormat>Widescreen</PresentationFormat>
  <Paragraphs>212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Google Sans</vt:lpstr>
      <vt:lpstr>Custom Design</vt:lpstr>
      <vt:lpstr>INSTRUCTIONS</vt:lpstr>
      <vt:lpstr>Title:  Heritage and Culture History Of India</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Laxman raj teja Puram</cp:lastModifiedBy>
  <cp:revision>56</cp:revision>
  <dcterms:created xsi:type="dcterms:W3CDTF">2022-05-20T10:20:31Z</dcterms:created>
  <dcterms:modified xsi:type="dcterms:W3CDTF">2026-03-12T04:23:44Z</dcterms:modified>
</cp:coreProperties>
</file>